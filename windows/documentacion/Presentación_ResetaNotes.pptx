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hkkV7qICys5IO942uFhpct3N8H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f0eec2b0a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af0eec2b0a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7" name="Google Shape;1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" name="Google Shape;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2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2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2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1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7" name="Google Shape;2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8" name="Google Shape;2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3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3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3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7" name="Google Shape;3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38" name="Google Shape;3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4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4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4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1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s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7" name="Google Shape;4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8" name="Google Shape;4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8" name="Google Shape;5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9" name="Google Shape;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6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16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16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71" name="Google Shape;7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72" name="Google Shape;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80" name="Google Shape;8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6" name="Google Shape;8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7" name="Google Shape;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9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leyenda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7" name="Google Shape;9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8" name="Google Shape;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4" name="Google Shape;104;p2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leyenda">
  <p:cSld name="Imagen panorámica con leyenda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8" name="Google Shape;10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9" name="Google Shape;1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5" name="Google Shape;115;p2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leyenda">
  <p:cSld name="Título y leyenda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9" name="Google Shape;11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0" name="Google Shape;1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5" name="Google Shape;125;p2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título">
  <p:cSld name="Cita con título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9" name="Google Shape;12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0" name="Google Shape;1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3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5" name="Google Shape;135;p23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6" name="Google Shape;136;p2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39" name="Google Shape;139;p23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lang="es-ES" sz="720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lang="es-ES" sz="720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2" name="Google Shape;14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3" name="Google Shape;14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4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2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as">
  <p:cSld name="3 Columnas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52" name="Google Shape;15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53" name="Google Shape;1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8" name="Google Shape;158;p25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25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0" name="Google Shape;160;p25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1" name="Google Shape;161;p25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2" name="Google Shape;162;p25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3" name="Google Shape;163;p2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as de imagen">
  <p:cSld name="3 Columnas de imagen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7" name="Google Shape;16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8" name="Google Shape;1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6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3" name="Google Shape;173;p26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4" name="Google Shape;174;p26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5" name="Google Shape;175;p26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6" name="Google Shape;176;p26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7" name="Google Shape;177;p26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8" name="Google Shape;178;p26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9" name="Google Shape;179;p26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80" name="Google Shape;180;p26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1" name="Google Shape;181;p2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5" name="Google Shape;18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6" name="Google Shape;18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2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8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8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8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28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8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8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10" name="Google Shape;10;p11"/>
          <p:cNvPicPr preferRelativeResize="0"/>
          <p:nvPr/>
        </p:nvPicPr>
        <p:blipFill rotWithShape="1">
          <a:blip r:embed="rId1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1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8" name="Google Shape;208;p1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"/>
          <p:cNvSpPr txBox="1"/>
          <p:nvPr>
            <p:ph type="ctrTitle"/>
          </p:nvPr>
        </p:nvSpPr>
        <p:spPr>
          <a:xfrm>
            <a:off x="680322" y="643466"/>
            <a:ext cx="7449552" cy="4868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Trebuchet MS"/>
              <a:buNone/>
            </a:pPr>
            <a:r>
              <a:rPr lang="es-ES" sz="8800"/>
              <a:t>RecetaNotes</a:t>
            </a:r>
            <a:endParaRPr/>
          </a:p>
        </p:txBody>
      </p:sp>
      <p:sp>
        <p:nvSpPr>
          <p:cNvPr id="210" name="Google Shape;210;p1"/>
          <p:cNvSpPr txBox="1"/>
          <p:nvPr>
            <p:ph idx="1" type="subTitle"/>
          </p:nvPr>
        </p:nvSpPr>
        <p:spPr>
          <a:xfrm>
            <a:off x="9027581" y="2622000"/>
            <a:ext cx="3114335" cy="3011499"/>
          </a:xfrm>
          <a:prstGeom prst="rect">
            <a:avLst/>
          </a:prstGeom>
          <a:noFill/>
          <a:ln>
            <a:noFill/>
          </a:ln>
          <a:effectLst>
            <a:outerShdw blurRad="88900" rotWithShape="0" algn="tl" dir="2700000" dist="38100">
              <a:srgbClr val="000000">
                <a:alpha val="29803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/>
              <a:t>Materia: Analisís y Metodologia de Sistemas</a:t>
            </a:r>
            <a:endParaRPr u="sng"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/>
              <a:t>Alumna: Kihara Riveros, Rocio Goldaraz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/>
              <a:t>Profe: Ezequiel Alejandro Suárez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11" name="Google Shape;21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5825" y="2006420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"/>
          <p:cNvSpPr/>
          <p:nvPr/>
        </p:nvSpPr>
        <p:spPr>
          <a:xfrm>
            <a:off x="10589003" y="643466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RecetaNotes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s-ES" sz="3600">
                <a:latin typeface="Calibri"/>
                <a:ea typeface="Calibri"/>
                <a:cs typeface="Calibri"/>
                <a:sym typeface="Calibri"/>
              </a:rPr>
              <a:t>Es una aplicación creada para organizar, editar y guardar recetas personales de manera sencilla.</a:t>
            </a:r>
            <a:br>
              <a:rPr lang="es-ES" sz="3600">
                <a:latin typeface="Calibri"/>
                <a:ea typeface="Calibri"/>
                <a:cs typeface="Calibri"/>
                <a:sym typeface="Calibri"/>
              </a:rPr>
            </a:br>
            <a:r>
              <a:rPr lang="es-ES" sz="3600">
                <a:latin typeface="Calibri"/>
                <a:ea typeface="Calibri"/>
                <a:cs typeface="Calibri"/>
                <a:sym typeface="Calibri"/>
              </a:rPr>
              <a:t> En este trabajo se desarrollan los </a:t>
            </a: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mockups</a:t>
            </a:r>
            <a:r>
              <a:rPr lang="es-ES" sz="3600">
                <a:latin typeface="Calibri"/>
                <a:ea typeface="Calibri"/>
                <a:cs typeface="Calibri"/>
                <a:sym typeface="Calibri"/>
              </a:rPr>
              <a:t>, la </a:t>
            </a: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estructura de widgets</a:t>
            </a:r>
            <a:r>
              <a:rPr lang="es-ES" sz="3600">
                <a:latin typeface="Calibri"/>
                <a:ea typeface="Calibri"/>
                <a:cs typeface="Calibri"/>
                <a:sym typeface="Calibri"/>
              </a:rPr>
              <a:t> y la </a:t>
            </a: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implementación en Flutter</a:t>
            </a:r>
            <a:r>
              <a:rPr lang="es-ES" sz="3600">
                <a:latin typeface="Calibri"/>
                <a:ea typeface="Calibri"/>
                <a:cs typeface="Calibri"/>
                <a:sym typeface="Calibri"/>
              </a:rPr>
              <a:t> de las pantallas principales.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s-ES"/>
              <a:t>Objetivos del TP</a:t>
            </a:r>
            <a:endParaRPr/>
          </a:p>
        </p:txBody>
      </p:sp>
      <p:sp>
        <p:nvSpPr>
          <p:cNvPr id="224" name="Google Shape;224;p3"/>
          <p:cNvSpPr txBox="1"/>
          <p:nvPr>
            <p:ph idx="1" type="body"/>
          </p:nvPr>
        </p:nvSpPr>
        <p:spPr>
          <a:xfrm>
            <a:off x="168693" y="2140931"/>
            <a:ext cx="11791003" cy="4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s-ES" sz="3600">
                <a:latin typeface="Calibri"/>
                <a:ea typeface="Calibri"/>
                <a:cs typeface="Calibri"/>
                <a:sym typeface="Calibri"/>
              </a:rPr>
              <a:t>-Diseñar la pantalla de Login y la pantalla de Editar Receta.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s-ES" sz="3600">
                <a:latin typeface="Calibri"/>
                <a:ea typeface="Calibri"/>
                <a:cs typeface="Calibri"/>
                <a:sym typeface="Calibri"/>
              </a:rPr>
              <a:t>-Presentar la evolución del diseño a través de prototipos.</a:t>
            </a:r>
            <a:br>
              <a:rPr lang="es-ES" sz="3600">
                <a:latin typeface="Calibri"/>
                <a:ea typeface="Calibri"/>
                <a:cs typeface="Calibri"/>
                <a:sym typeface="Calibri"/>
              </a:rPr>
            </a:br>
            <a:r>
              <a:rPr lang="es-ES" sz="3600">
                <a:latin typeface="Calibri"/>
                <a:ea typeface="Calibri"/>
                <a:cs typeface="Calibri"/>
                <a:sym typeface="Calibri"/>
              </a:rPr>
              <a:t>-Identificar los widgets correspondientes a cada pantalla.</a:t>
            </a:r>
            <a:br>
              <a:rPr lang="es-ES" sz="3600">
                <a:latin typeface="Calibri"/>
                <a:ea typeface="Calibri"/>
                <a:cs typeface="Calibri"/>
                <a:sym typeface="Calibri"/>
              </a:rPr>
            </a:br>
            <a:r>
              <a:rPr lang="es-ES" sz="3600">
                <a:latin typeface="Calibri"/>
                <a:ea typeface="Calibri"/>
                <a:cs typeface="Calibri"/>
                <a:sym typeface="Calibri"/>
              </a:rPr>
              <a:t>-Implementar las pantallas en Flutter a modo mock-up y mostrar las capturas finales resultantes.</a:t>
            </a:r>
            <a:br>
              <a:rPr lang="es-ES" sz="3600">
                <a:latin typeface="Calibri"/>
                <a:ea typeface="Calibri"/>
                <a:cs typeface="Calibri"/>
                <a:sym typeface="Calibri"/>
              </a:rPr>
            </a:br>
            <a:r>
              <a:rPr lang="es-ES" sz="3600">
                <a:latin typeface="Calibri"/>
                <a:ea typeface="Calibri"/>
                <a:cs typeface="Calibri"/>
                <a:sym typeface="Calibri"/>
              </a:rPr>
              <a:t>-Adjuntar carpeta /lib y /assets del proyecto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"/>
          <p:cNvSpPr/>
          <p:nvPr/>
        </p:nvSpPr>
        <p:spPr>
          <a:xfrm>
            <a:off x="0" y="-1"/>
            <a:ext cx="12188824" cy="68580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0" name="Google Shape;230;p4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"/>
          <p:cNvSpPr/>
          <p:nvPr/>
        </p:nvSpPr>
        <p:spPr>
          <a:xfrm>
            <a:off x="2" y="609600"/>
            <a:ext cx="4959094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"/>
          <p:cNvSpPr txBox="1"/>
          <p:nvPr>
            <p:ph type="title"/>
          </p:nvPr>
        </p:nvSpPr>
        <p:spPr>
          <a:xfrm>
            <a:off x="680321" y="753228"/>
            <a:ext cx="4136123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</a:pPr>
            <a:r>
              <a:rPr lang="es-ES" sz="2400"/>
              <a:t>  </a:t>
            </a:r>
            <a:endParaRPr/>
          </a:p>
        </p:txBody>
      </p:sp>
      <p:pic>
        <p:nvPicPr>
          <p:cNvPr id="233" name="Google Shape;2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" y="1970241"/>
            <a:ext cx="4956048" cy="199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4"/>
          <p:cNvSpPr txBox="1"/>
          <p:nvPr/>
        </p:nvSpPr>
        <p:spPr>
          <a:xfrm>
            <a:off x="5407" y="2434844"/>
            <a:ext cx="4136123" cy="3555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Estilo visual</a:t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8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de elementos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Colorimetría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Flujo de navegación básico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143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Imagen que contiene Sitio web&#10;&#10;El contenido generado por IA puede ser incorrecto." id="235" name="Google Shape;235;p4"/>
          <p:cNvPicPr preferRelativeResize="0"/>
          <p:nvPr/>
        </p:nvPicPr>
        <p:blipFill rotWithShape="1">
          <a:blip r:embed="rId5">
            <a:alphaModFix/>
          </a:blip>
          <a:srcRect b="-6739" l="-5839" r="5839" t="9549"/>
          <a:stretch/>
        </p:blipFill>
        <p:spPr>
          <a:xfrm>
            <a:off x="3316663" y="2429543"/>
            <a:ext cx="8752417" cy="3557747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pic>
      <p:sp>
        <p:nvSpPr>
          <p:cNvPr id="236" name="Google Shape;236;p4"/>
          <p:cNvSpPr txBox="1"/>
          <p:nvPr/>
        </p:nvSpPr>
        <p:spPr>
          <a:xfrm>
            <a:off x="0" y="751114"/>
            <a:ext cx="5072743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 esta etapa se generaron </a:t>
            </a:r>
            <a:r>
              <a:rPr b="1" i="0" lang="es-E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8pantallas de prototipos</a:t>
            </a:r>
            <a:r>
              <a:rPr b="0" i="0" lang="es-E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en Figma, definiendo: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s-ES"/>
              <a:t>Prototipo afinado con detalles incorporados</a:t>
            </a:r>
            <a:endParaRPr/>
          </a:p>
        </p:txBody>
      </p:sp>
      <p:pic>
        <p:nvPicPr>
          <p:cNvPr descr="Interfaz de usuario gráfica, Sitio web&#10;&#10;El contenido generado por IA puede ser incorrecto." id="242" name="Google Shape;242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88" y="2119608"/>
            <a:ext cx="11986671" cy="298275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5"/>
          <p:cNvSpPr/>
          <p:nvPr/>
        </p:nvSpPr>
        <p:spPr>
          <a:xfrm>
            <a:off x="421921" y="5294431"/>
            <a:ext cx="11636861" cy="1143270"/>
          </a:xfrm>
          <a:prstGeom prst="rect">
            <a:avLst/>
          </a:prstGeom>
          <a:solidFill>
            <a:srgbClr val="F2623A"/>
          </a:solidFill>
          <a:ln cap="flat" cmpd="sng" w="12700">
            <a:solidFill>
              <a:srgbClr val="653E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Versión final del diseño, coherente con el estilo definitivo de </a:t>
            </a:r>
            <a:r>
              <a:rPr b="1"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RecetaNotes</a:t>
            </a: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rebuchet MS"/>
              <a:buNone/>
            </a:pPr>
            <a:r>
              <a:rPr b="1" lang="es-ES" sz="2200"/>
              <a:t>       </a:t>
            </a:r>
            <a:br>
              <a:rPr b="1" lang="es-ES" sz="2200"/>
            </a:br>
            <a:r>
              <a:rPr b="1" lang="es-ES" sz="2200"/>
              <a:t>             Widgets utilizados en la aplicación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 txBox="1"/>
          <p:nvPr>
            <p:ph idx="1" type="body"/>
          </p:nvPr>
        </p:nvSpPr>
        <p:spPr>
          <a:xfrm>
            <a:off x="680321" y="2336873"/>
            <a:ext cx="9896889" cy="3991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b="1" lang="es-ES" sz="2800">
                <a:latin typeface="Calibri"/>
                <a:ea typeface="Calibri"/>
                <a:cs typeface="Calibri"/>
                <a:sym typeface="Calibri"/>
              </a:rPr>
              <a:t>Archivo: widgets.dart (estos son los genericos)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s-ES" sz="2800">
                <a:latin typeface="Trebuchet MS"/>
                <a:ea typeface="Trebuchet MS"/>
                <a:cs typeface="Trebuchet MS"/>
                <a:sym typeface="Trebuchet MS"/>
              </a:rPr>
              <a:t>Widgets creados para reutilizarse en distintas pantallas.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b="1" lang="es-ES" sz="2800">
                <a:latin typeface="Calibri"/>
                <a:ea typeface="Calibri"/>
                <a:cs typeface="Calibri"/>
                <a:sym typeface="Calibri"/>
              </a:rPr>
              <a:t>HeaderWidget</a:t>
            </a:r>
            <a:r>
              <a:rPr lang="es-ES" sz="2800">
                <a:latin typeface="Trebuchet MS"/>
                <a:ea typeface="Trebuchet MS"/>
                <a:cs typeface="Trebuchet MS"/>
                <a:sym typeface="Trebuchet MS"/>
              </a:rPr>
              <a:t>: Encabezado naranja con título centrado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b="1" lang="es-ES" sz="2800">
                <a:latin typeface="Calibri"/>
                <a:ea typeface="Calibri"/>
                <a:cs typeface="Calibri"/>
                <a:sym typeface="Calibri"/>
              </a:rPr>
              <a:t>LabelWidget</a:t>
            </a:r>
            <a:r>
              <a:rPr lang="es-ES" sz="2800">
                <a:latin typeface="Trebuchet MS"/>
                <a:ea typeface="Trebuchet MS"/>
                <a:cs typeface="Trebuchet MS"/>
                <a:sym typeface="Trebuchet MS"/>
              </a:rPr>
              <a:t>: Texto estilo etiqueta para campos (ej: “Usuario”)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s-ES" sz="2800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s-ES" sz="2800">
                <a:latin typeface="Calibri"/>
                <a:ea typeface="Calibri"/>
                <a:cs typeface="Calibri"/>
                <a:sym typeface="Calibri"/>
              </a:rPr>
              <a:t>CustomTextField</a:t>
            </a:r>
            <a:r>
              <a:rPr lang="es-ES" sz="2800">
                <a:latin typeface="Trebuchet MS"/>
                <a:ea typeface="Trebuchet MS"/>
                <a:cs typeface="Trebuchet MS"/>
                <a:sym typeface="Trebuchet MS"/>
              </a:rPr>
              <a:t>: Campo de texto estándar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b="1" lang="es-ES" sz="2800">
                <a:latin typeface="Calibri"/>
                <a:ea typeface="Calibri"/>
                <a:cs typeface="Calibri"/>
                <a:sym typeface="Calibri"/>
              </a:rPr>
              <a:t>PasswordField</a:t>
            </a:r>
            <a:r>
              <a:rPr lang="es-ES" sz="2800">
                <a:latin typeface="Trebuchet MS"/>
                <a:ea typeface="Trebuchet MS"/>
                <a:cs typeface="Trebuchet MS"/>
                <a:sym typeface="Trebuchet MS"/>
              </a:rPr>
              <a:t>: Campo de contraseña con icono de mostrar/ocultar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b="1" lang="es-ES" sz="2800">
                <a:latin typeface="Calibri"/>
                <a:ea typeface="Calibri"/>
                <a:cs typeface="Calibri"/>
                <a:sym typeface="Calibri"/>
              </a:rPr>
              <a:t>CustomButton</a:t>
            </a:r>
            <a:r>
              <a:rPr lang="es-ES" sz="2800">
                <a:latin typeface="Trebuchet MS"/>
                <a:ea typeface="Trebuchet MS"/>
                <a:cs typeface="Trebuchet MS"/>
                <a:sym typeface="Trebuchet MS"/>
              </a:rPr>
              <a:t>: Botón naranja estilizado de ancho completo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rebuchet MS"/>
              <a:buNone/>
            </a:pPr>
            <a:r>
              <a:rPr b="1" lang="es-ES" sz="2200"/>
              <a:t>         Widgets utilizados en la aplicación</a:t>
            </a:r>
            <a:endParaRPr/>
          </a:p>
        </p:txBody>
      </p:sp>
      <p:sp>
        <p:nvSpPr>
          <p:cNvPr id="255" name="Google Shape;255;p7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b="1" lang="es-ES"/>
              <a:t>Widget específico (</a:t>
            </a:r>
            <a:r>
              <a:rPr b="1" lang="es-ES">
                <a:latin typeface="Consolas"/>
                <a:ea typeface="Consolas"/>
                <a:cs typeface="Consolas"/>
                <a:sym typeface="Consolas"/>
              </a:rPr>
              <a:t>ingredientes_item_widget.dart</a:t>
            </a:r>
            <a:r>
              <a:rPr b="1" lang="es-ES"/>
              <a:t>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ES"/>
              <a:t>Este widget se utiliza exclusivamente en la pantalla de recetas.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b="1" lang="es-ES"/>
              <a:t>IngredienteItemWidget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s-ES"/>
              <a:t>Checkbox para marcar ingredientes completados.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s-ES"/>
              <a:t>Texto con el nombre del ingrediente basado en el modelo </a:t>
            </a:r>
            <a:r>
              <a:rPr lang="es-ES">
                <a:latin typeface="Consolas"/>
                <a:ea typeface="Consolas"/>
                <a:cs typeface="Consolas"/>
                <a:sym typeface="Consolas"/>
              </a:rPr>
              <a:t>Ingrediente</a:t>
            </a:r>
            <a:r>
              <a:rPr lang="es-ES"/>
              <a:t>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</a:pPr>
            <a:r>
              <a:rPr b="1" lang="es-ES" sz="2400"/>
              <a:t>Pantalla final del proyecto con l</a:t>
            </a:r>
            <a:r>
              <a:rPr lang="es-ES" sz="2400"/>
              <a:t>a </a:t>
            </a:r>
            <a:r>
              <a:rPr b="1" lang="es-ES" sz="2400"/>
              <a:t>estructura de widgets</a:t>
            </a:r>
            <a:r>
              <a:rPr lang="es-ES" sz="2400"/>
              <a:t> indicada en el diseño, Los estilos y distribución acordes al mock-up inicial.</a:t>
            </a:r>
            <a:endParaRPr/>
          </a:p>
        </p:txBody>
      </p:sp>
      <p:pic>
        <p:nvPicPr>
          <p:cNvPr id="261" name="Google Shape;261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2739" l="-1912" r="0" t="5945"/>
          <a:stretch/>
        </p:blipFill>
        <p:spPr>
          <a:xfrm>
            <a:off x="524373" y="2097389"/>
            <a:ext cx="9926044" cy="460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rebuchet MS"/>
              <a:buNone/>
            </a:pPr>
            <a:r>
              <a:rPr b="1" lang="es-ES" sz="2000"/>
              <a:t>La pantalla final que fue desarrollada en Flutter siguiendo el mock-up provisto, y representa la interfaz final utilizada en la aplicación.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rebuchet MS"/>
              <a:buNone/>
            </a:pPr>
            <a:r>
              <a:t/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terfaz de usuario gráfica, Texto, Aplicación, Correo electrónico&#10;&#10;El contenido generado por IA puede ser incorrecto." id="267" name="Google Shape;267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6787" l="0" r="-1104" t="5744"/>
          <a:stretch/>
        </p:blipFill>
        <p:spPr>
          <a:xfrm>
            <a:off x="230459" y="2130045"/>
            <a:ext cx="10252462" cy="457453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9"/>
          <p:cNvSpPr txBox="1"/>
          <p:nvPr/>
        </p:nvSpPr>
        <p:spPr>
          <a:xfrm>
            <a:off x="3048000" y="3429000"/>
            <a:ext cx="6096000" cy="7540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​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f0eec2b0a_0_6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rebuchet MS"/>
              <a:buNone/>
            </a:pPr>
            <a:r>
              <a:rPr b="1" lang="es-ES" sz="2000"/>
              <a:t>La pantalla final que fue desarrollada en Flutter siguiendo el mock-up provisto, y representa la interfaz final utilizada en la aplicación.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rebuchet MS"/>
              <a:buNone/>
            </a:pPr>
            <a:r>
              <a:t/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g3af0eec2b0a_0_6"/>
          <p:cNvPicPr preferRelativeResize="0"/>
          <p:nvPr/>
        </p:nvPicPr>
        <p:blipFill rotWithShape="1">
          <a:blip r:embed="rId3">
            <a:alphaModFix/>
          </a:blip>
          <a:srcRect b="4681" l="0" r="0" t="9252"/>
          <a:stretch/>
        </p:blipFill>
        <p:spPr>
          <a:xfrm>
            <a:off x="703500" y="2096575"/>
            <a:ext cx="9613800" cy="4654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10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0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85" name="Google Shape;285;p10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0"/>
          <p:cNvSpPr/>
          <p:nvPr/>
        </p:nvSpPr>
        <p:spPr>
          <a:xfrm>
            <a:off x="8788808" y="0"/>
            <a:ext cx="34031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242852"/>
            <a:ext cx="9110541" cy="246557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0"/>
          <p:cNvSpPr/>
          <p:nvPr/>
        </p:nvSpPr>
        <p:spPr>
          <a:xfrm>
            <a:off x="-1" y="2590078"/>
            <a:ext cx="9110542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 txBox="1"/>
          <p:nvPr>
            <p:ph type="title"/>
          </p:nvPr>
        </p:nvSpPr>
        <p:spPr>
          <a:xfrm>
            <a:off x="840510" y="2733709"/>
            <a:ext cx="7657792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Trebuchet MS"/>
              <a:buNone/>
            </a:pPr>
            <a:r>
              <a:rPr lang="es-ES" sz="5400">
                <a:solidFill>
                  <a:srgbClr val="FFFFFF"/>
                </a:solidFill>
              </a:rPr>
              <a:t>Gracias!!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M04033917[[fn=Berlin]]_novariants">
  <a:themeElements>
    <a:clrScheme name="Berlin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2025-11-22T04:39:28Z</dcterms:created>
</cp:coreProperties>
</file>